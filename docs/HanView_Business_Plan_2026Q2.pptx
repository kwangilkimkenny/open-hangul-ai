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99A3B"/>
                </a:solidFill>
                <a:latin typeface="맑은 고딕"/>
              </a:rPr>
              <a:t>BUSINESS PLAN ·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맑은 고딕"/>
              </a:rPr>
              <a:t>HanView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8ECF2"/>
                </a:solidFill>
                <a:latin typeface="맑은 고딕"/>
              </a:rPr>
              <a:t>대한민국 공문서의 운영체제(OS)가 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CF2"/>
                </a:solidFill>
                <a:latin typeface="맑은 고딕"/>
              </a:rPr>
              <a:t>HWPX 네이티브 파서 · 시맨틱 표 이해 · AI 문서 생성 엔진.</a:t>
            </a:r>
          </a:p>
          <a:p>
            <a:pPr algn="l"/>
            <a:r>
              <a:rPr sz="1400" b="0">
                <a:solidFill>
                  <a:srgbClr val="E8ECF2"/>
                </a:solidFill>
                <a:latin typeface="맑은 고딕"/>
              </a:rPr>
              <a:t>한컴 독점 HWP 생태계를 웹·AI 시대로 개방하는 유일한 오픈 플랫폼.</a:t>
            </a:r>
          </a:p>
          <a:p>
            <a:pPr algn="l"/>
            <a:r>
              <a:rPr sz="1400" b="0">
                <a:solidFill>
                  <a:srgbClr val="E8ECF2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E8ECF2"/>
                </a:solidFill>
                <a:latin typeface="맑은 고딕"/>
              </a:rPr>
              <a:t>· 타깃: 1인 전문사무소 → SI·공공 · BizModel: PLG + API + Enterprise</a:t>
            </a:r>
          </a:p>
          <a:p>
            <a:pPr algn="l"/>
            <a:r>
              <a:rPr sz="1400" b="0">
                <a:solidFill>
                  <a:srgbClr val="E8ECF2"/>
                </a:solidFill>
                <a:latin typeface="맑은 고딕"/>
              </a:rPr>
              <a:t>· 90일 내 유료 MRR 1천만원, 12개월 내 시리즈 A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577840"/>
            <a:ext cx="2743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9A3B"/>
                </a:solidFill>
                <a:latin typeface="맑은 고딕"/>
              </a:rPr>
              <a:t>ISM Team · license@ism-team.com · 2026.04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Strictly Confidential · For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01 ·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왜 지금, 왜 HanView인가 — 한 장으로 보는 투자 논거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73152" cy="109728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11조원+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26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국내 HWP 기반 문서 처리 시장 (TAM)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4884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148840"/>
            <a:ext cx="73152" cy="109728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3317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0개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926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HWPX 네이티브 + AI 표 이해 경쟁사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14884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148840"/>
            <a:ext cx="73152" cy="109728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3317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₩2억 → 50억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26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12개월 ARR 목표 (Base case)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148840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2148840"/>
            <a:ext cx="73152" cy="109728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3317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70%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926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사내 sLM으로 AI 원가 절감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20440"/>
            <a:ext cx="56692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520440"/>
            <a:ext cx="5669280" cy="457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68503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What we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14800"/>
            <a:ext cx="5303520" cy="2331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HWPX 파서 v3.0 — 단일 패스 고성능, 세계 최초 풀 스펙 구현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시맨틱 표 이해 v3.0 — SpreadsheetLLM 기반, 다단계 병합표 인식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AI 문서 생성 엔진 — 멀티패스, A4 1쪽 분량 섹션 확장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DOCX / XLSX / MD / PDF 내보내기 — 전 포맷 왕복 호환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React 라이브러리(npm) + 웹앱 + REST API 동시 제공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520440"/>
            <a:ext cx="53949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520440"/>
            <a:ext cx="5394960" cy="4572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6850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Why 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14800"/>
            <a:ext cx="5029200" cy="2331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공공 AI 전환 의무화 (2026 디지털플랫폼정부 기본계획)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한컴 HWP 서비스 종료 루머·가격 인상 → 고객 이탈 임박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LLM 토큰가 12개월 -80% → AI 문서생성 경제성 임계점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HWPX = TTA·ISO 공개 표준 → 법적 리스크 ZERO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국내 LLM(EXAONE·솔라) 상용화 → 데이터 주권 이슈 해소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02 ·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Problem — 고객이 매일 겪는 고통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HWP는 한국 지식노동자 3,200만명의 일일 마찰비용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5623560"/>
                <a:gridCol w="37490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핵심 Pain Point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정량 영향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공공/교육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 강제 제출, 한컴 라이선스 ₩12만/년, AI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연간 ₩8,000억 기회비용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로펌·세무·노무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판례·계약·세무 서식이 모두 HWP, Mac에서 열기 불가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1인 주 4.2시간 소비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50292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SI·SW 개발사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 파싱 라이브러리 부재 → 건당 수천만원 외주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연간 ₩1,200억 중복개발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스타트업·기업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공공 RFP 대응 시 HWP 제안서 요구, 팀 협업 불가능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수주 포기율 23%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50292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학교·학원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공문 표 양식 복잡, 교사 1인 주 6시간 행정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전국 기준 연 1.2억 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1343B"/>
                </a:solidFill>
                <a:latin typeface="맑은 고딕"/>
              </a:rPr>
              <a:t>💡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맑은 고딕"/>
              </a:rPr>
              <a:t>현존 대체재(한컴오피스·폴라리스·Google Docs)는 '뷰어'일 뿐 — AI 기반 생성·이해·자동화 계층은 전무하다.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03 ·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Solution — HanView 4-Layer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파서부터 AI까지 수직 통합된 유일한 한국어 문서 플랫폼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6858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137160" cy="7315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1343B"/>
                </a:solidFill>
                <a:latin typeface="맑은 고딕"/>
              </a:rPr>
              <a:t>Layer 4 ·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786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웹앱 · React 위젯 · 모바일 · Slack/Teams Bot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6858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137160" cy="7315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99A3B"/>
                </a:solidFill>
                <a:latin typeface="맑은 고딕"/>
              </a:rPr>
              <a:t>Layer 3 ·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0156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AI 문서생성 · 시맨틱 표 이해 · 멀티패스 확장 · OCR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6858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137160" cy="73152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7D5F"/>
                </a:solidFill>
                <a:latin typeface="맑은 고딕"/>
              </a:rPr>
              <a:t>Layer 2 ·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24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DOCX / XLSX / MD / PDF Export · 왕복 변환 · Diff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6858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13716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맑은 고딕"/>
              </a:rPr>
              <a:t>Layer 1 ·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474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HWPX Parser v3.0 · 단일 패스 · 풀 스펙 · Worker 병렬화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194560"/>
            <a:ext cx="41148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2194560"/>
            <a:ext cx="4114800" cy="4572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23591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기술적 해자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2788920"/>
            <a:ext cx="3749040" cy="3337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HWPX 풀 스펙 파서 (헤더·푸터·각주·하이퍼링크·필드·번호매김 전부)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시맨틱 그리드 5단계 알고리즘 (그리드→코너→분류→체인→타입추론)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LLM 토큰 최적화 — 40셀 단위 자동 분할 멀티패스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Worker 병렬 파싱으로 100MB 문서 3초 이내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React 19 + TS + Vite — 라이브러리·웹앱 이중 빌드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Supabase 기반 멀티테넌시 · Tosspayments 결제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04 ·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Market Sizing — TAM / SAM / SOM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보수적으로 잡아도 3년 내 ARR 500억 가능한 그릇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Oval 10"/>
          <p:cNvSpPr/>
          <p:nvPr/>
        </p:nvSpPr>
        <p:spPr>
          <a:xfrm>
            <a:off x="1691640" y="2606040"/>
            <a:ext cx="3017520" cy="30175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94560" y="3108960"/>
            <a:ext cx="2011680" cy="2011680"/>
          </a:xfrm>
          <a:prstGeom prst="ellipse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1760" y="3566160"/>
            <a:ext cx="1097280" cy="1097280"/>
          </a:xfrm>
          <a:prstGeom prst="ellipse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19456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맑은 고딕"/>
              </a:rPr>
              <a:t>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14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₩11조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2860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국내 전체 문서 SW·서비스 시장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6616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1343B"/>
                </a:solidFill>
                <a:latin typeface="맑은 고딕"/>
              </a:rPr>
              <a:t>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886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₩1.8조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6576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HWP 의존 지식노동 영역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93776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99A3B"/>
                </a:solidFill>
                <a:latin typeface="맑은 고딕"/>
              </a:rPr>
              <a:t>SOM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257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맑은 고딕"/>
              </a:rPr>
              <a:t>₩180억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0292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3년 내 실현가능 점유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965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3년 단계적 시장 포지셔닝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5852160"/>
            <a:ext cx="4846320" cy="640080"/>
          </a:xfrm>
          <a:prstGeom prst="rect">
            <a:avLst/>
          </a:prstGeom>
          <a:solidFill>
            <a:srgbClr val="F7F8FB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5943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가정: SOM 10% 침투 = ARR 180억 · EV/Sales 8x = 기업가치 ₩1,440억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05 ·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고객 세그먼트 · 진입 우선순위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Pain × WTP × 접근성으로 본 4-Quadrant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5577840" cy="4572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🎯 Beachhead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맑은 고딕"/>
              </a:rPr>
              <a:t>세무·노무·행정사 1인 사무소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12만개 사업자 · WTP ₩30K/월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11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1343B"/>
                </a:solidFill>
                <a:latin typeface="맑은 고딕"/>
              </a:rPr>
              <a:t>진입 타이밍: 즉시 (Q2 2026)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14884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148840"/>
            <a:ext cx="5577840" cy="45720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🚀 Early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맑은 고딕"/>
              </a:rPr>
              <a:t>중소 로펌·회계법인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9,000개 · WTP ₩300K/월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11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C99A3B"/>
                </a:solidFill>
                <a:latin typeface="맑은 고딕"/>
              </a:rPr>
              <a:t>진입 타이밍: Q4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4340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5577840" cy="45720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48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💼 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맑은 고딕"/>
              </a:rPr>
              <a:t>SI·SW 개발사 (API)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394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800개 · 연 ₩5천만~3억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F7D5F"/>
                </a:solidFill>
                <a:latin typeface="맑은 고딕"/>
              </a:rPr>
              <a:t>진입 타이밍: Q3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34340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343400"/>
            <a:ext cx="557784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4348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🏛 Public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9377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맑은 고딕"/>
              </a:rPr>
              <a:t>공공기관·지자체·학교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394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맑은 고딕"/>
              </a:rPr>
              <a:t>17,000개 · 조달·혁신제품 트랙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806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맑은 고딕"/>
              </a:rPr>
              <a:t>진입 타이밍: 2027 H1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06 ·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Beachhead — 세무·노무사 1인 사무소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좁게 시작해 확실하게 장악한다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3749039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3749039" cy="457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59152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왜 이 세그먼트인가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3383279" cy="3703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12만개 활성 사업자 (한국 전체 전문직 사무소 중 가장 큼)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의사결정자 = 사용자 본인 → 영업사이클 2주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HWP 의존도 극단적 (국세청·고용부 양식 100% HWP)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월 ₩30K WTP 검증됨 (세무사랑·위멤버스 SaaS 선례)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커뮤니티 결속 강함 → 입소문 바이럴 계수 1.4 예상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LTV 추정 ₩720K (2년 유지) · CAC 목표 ₩80K → LTV/CAC 9x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194560"/>
            <a:ext cx="3749039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94560"/>
            <a:ext cx="3749039" cy="4572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359152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제공 가치 (Jobs-to-be-Done)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788920"/>
            <a:ext cx="3383279" cy="3703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세무조정계산서 AI 초안 생성 (4시간 → 20분)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고용보험·4대보험 공문 자동 완성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고객사 제출용 보고서 HWP ↔ PDF 왕복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판례·국세청 예규 HWP 인덱싱·검색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Mac/iPad에서 HWP 100% 열람·편집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카카오톡 봇 — 사진 찍으면 공문 초안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194560"/>
            <a:ext cx="33832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194560"/>
            <a:ext cx="3383280" cy="4572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3591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확보 채널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788920"/>
            <a:ext cx="3017520" cy="3703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한국세무사회·노무사회 제휴 (회원할인)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세무사랑·더존 플러그인 형태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세무사 유튜버 스폰서 (택스톡·세무훈남)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네이버 카페 '세무사카페' 파트너십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무료 7일 + 첫달 ₩9,900 트라이얼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Referral: 추천 1건당 1개월 무료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07 ·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Business Model · 4-Tier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PLG 깔때기로 Free → Pro → Team → Enterprise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1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00"/>
                <a:gridCol w="1619585"/>
                <a:gridCol w="1619585"/>
                <a:gridCol w="4678801"/>
                <a:gridCol w="2159447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Plan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가격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핵심 기능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전략적 역할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개인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₩0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HWPX 뷰어·기본 변환·월 5회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SEO · 신뢰 · 퍼널 입구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Pro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1인 전문직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₩9,900/월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무제한 변환·AI 월 100회·Mac 앱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핵심 수익원 (목표 60%)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5~50인 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₩39,000/인/월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협업·버전관리·API 1만콜·SSO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ACV ₩500만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Enterprise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대기업·공공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연 ₩5천만~3억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온프레미스·전담 sLM·SLA·GS인증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고마진 · 레퍼런스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개발사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₩50/건 종량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파서·변환·AI 엔드포인트 5종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생태계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solidFill>
            <a:srgbClr val="F7F8FB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1343B"/>
                </a:solidFill>
                <a:latin typeface="맑은 고딕"/>
              </a:rPr>
              <a:t>Unit Economics (Year 2 목표)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맑은 고딕"/>
              </a:rPr>
              <a:t>• Gross Margin 82% (sLM 이관 후) · CAC Payback 4.2개월 · Net Revenue Retention 118%</a:t>
            </a:r>
          </a:p>
          <a:p>
            <a:pPr algn="l"/>
            <a:r>
              <a:rPr sz="1100" b="0">
                <a:solidFill>
                  <a:srgbClr val="1A1F2C"/>
                </a:solidFill>
                <a:latin typeface="맑은 고딕"/>
              </a:rPr>
              <a:t>• Pro ARPU ₩9.9K · Team ARPU ₩180K · Enterprise ARPU ₩12M · Blended ARPU ₩52K/월</a:t>
            </a:r>
          </a:p>
          <a:p>
            <a:pPr algn="l"/>
            <a:r>
              <a:rPr sz="1100" b="0">
                <a:solidFill>
                  <a:srgbClr val="1A1F2C"/>
                </a:solidFill>
                <a:latin typeface="맑은 고딕"/>
              </a:rPr>
              <a:t>• 2027년 유료 계정 12,000 · MRR ₩6.2억 · ARR ₩74억 (Base)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09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08 ·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Growth Flywheel — PLG + OSS +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CAC=0 엔진 3종을 맞물려 돌린다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2194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219456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41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① 무료 웹뷰어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2608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hwpx.io 도메인으로</a:t>
            </a:r>
          </a:p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'hwp 열기' 키워드 SEO 독점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51760" y="3291840"/>
            <a:ext cx="146304" cy="27432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8064" y="2377440"/>
            <a:ext cx="2194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98064" y="2377440"/>
            <a:ext cx="2194560" cy="41148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2441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② 오픈소스 파서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292608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Core Parser MIT 공개</a:t>
            </a:r>
          </a:p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GitHub ★ 5K, 개발자 유입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92624" y="3291840"/>
            <a:ext cx="146304" cy="27432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38928" y="2377440"/>
            <a:ext cx="2194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8928" y="2377440"/>
            <a:ext cx="2194560" cy="41148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76088" y="2441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③ 커뮤니티 템플릿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92608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사용자 템플릿 공유</a:t>
            </a:r>
          </a:p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양식 빅데이터 축적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333488" y="3291840"/>
            <a:ext cx="146304" cy="27432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9792" y="2377440"/>
            <a:ext cx="2194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9792" y="2377440"/>
            <a:ext cx="2194560" cy="41148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6952" y="2441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④ AI 품질 격차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292608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학습된 템플릿으로</a:t>
            </a:r>
          </a:p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경쟁사 대비 2x 품질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674352" y="3291840"/>
            <a:ext cx="146304" cy="27432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20656" y="2377440"/>
            <a:ext cx="2194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20656" y="2377440"/>
            <a:ext cx="2194560" cy="41148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57816" y="2441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⑤ 유료 전환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7816" y="292608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무료→Pro 전환율 4.5%</a:t>
            </a:r>
          </a:p>
          <a:p>
            <a:pPr algn="l"/>
            <a:r>
              <a:rPr sz="1050" b="0">
                <a:solidFill>
                  <a:srgbClr val="1A1F2C"/>
                </a:solidFill>
                <a:latin typeface="맑은 고딕"/>
              </a:rPr>
              <a:t>Viral K=1.4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937760"/>
            <a:ext cx="11247120" cy="457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1023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Flywheel KPI — 90일 목표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532120"/>
            <a:ext cx="1088136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hwpx.io MAU 50,000 (구글 SERP 1위 달성) · Pro 전환율 4.5%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GitHub ★ 500 · npm weekly downloads 8,000 · Discord 멤버 1,200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사용자 생성 템플릿 3,000개 · AI 품질 벤치마크 GPT-4 대비 +22%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09 ·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경쟁 지형 — 2D Map으로 본 Blue Ocean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1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62"/>
                <a:gridCol w="3514725"/>
                <a:gridCol w="3954065"/>
                <a:gridCol w="202096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플레이어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강점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약점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당사 대비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한컴오피스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 편집 표준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Mac 불가·AI 부재·비쌈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대체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폴라리스 오피스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저가형 뷰어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표 깨짐·AI 부재·파싱 오류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열세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Google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협업 강점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 지원 0%·한국어 양식 부재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 영역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MS Copilot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범용 AI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HWPX 네이티브 파싱 불가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우회 불가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한컴독스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 웹 에디터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AI 없음·느림·상용 API 부재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기술 격차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🎯 HanView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HWPX 파서 + AI + 오픈소스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00">
                          <a:solidFill>
                            <a:srgbClr val="1A1F2C"/>
                          </a:solidFill>
                          <a:latin typeface="맑은 고딕"/>
                        </a:rPr>
                        <a:t>Category of One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577840"/>
            <a:ext cx="11247120" cy="100584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1343B"/>
                </a:solidFill>
                <a:latin typeface="맑은 고딕"/>
              </a:rPr>
              <a:t>🛡 해자 (Moat)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맑은 고딕"/>
              </a:rPr>
              <a:t>1) 풀스펙 HWPX 파서 (2년 선행) · 2) 시맨틱 표 학습 데이터 (네트워크 효과) · 3) 커뮤니티/생태계 · 4) 한국어 특화 sLM 파인튜닝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10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Product Roadmap — 12개월 추가 개발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PMF → Scale → Platform 3단계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6126480"/>
                <a:gridCol w="2286000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분기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테마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핵심 개발 항목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달성 KPI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87828"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Q2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PMF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Mac 네이티브 앱 · 카카오톡 봇 · Slack 연동 · 템플릿 마켓 MVP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Beachhead 고객 100명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Q3 2026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AI 고도화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자체 sLM 파인튜닝(EXAONE 기반) · 판례·국세청 RAG · OCR HWP 역변환 · 음성 입력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토큰비 70% 절감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587828"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Q4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협업 플랫폼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실시간 공동편집 · 버전관리(Git-like) · 전자서명 · 감사로그 · Zapier 연동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Team 플랜 런칭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Q1 2027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API 생태계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Developer Portal · Webhooks · Python/Go/Java SDK · Terraform Provider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개발자 5,000명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587828"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Q2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온프레미스 설치형 · Active Directory · DLP/DRM · GS인증 · 공공 SaaS 등록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ARR ₩30억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Q3 2027+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글로벌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다국어 확장 (日 ichitaro, 中 WPS), PDF Native Edit, Agent 자동화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950">
                          <a:solidFill>
                            <a:srgbClr val="1A1F2C"/>
                          </a:solidFill>
                          <a:latin typeface="맑은 고딕"/>
                        </a:rPr>
                        <a:t>일본 파일럿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11 ·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Tech Architecture · 추가 인프라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현재 스택 + 12개월 보강 계획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577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5577840" cy="4572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591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현재 (v4.0 as-is)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5212080" cy="3611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Frontend: React 19 · Vite 7 · TS 5.9 · Zustand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Parser: HWPX v3.0 · Web Worker 병렬 · 단일 패스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AI: OpenAI API · 시맨틱 표 처리 · 멀티패스 확장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Export: docx · exceljs · jspdf · html2canvas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Auth/DB: Supabase · RLS 멀티테넌시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Payment: Tosspayments 구독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배포: Docker · Vercel · SSR 부분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194560"/>
            <a:ext cx="5577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194560"/>
            <a:ext cx="5577840" cy="457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3591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Next 12개월 보강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88920"/>
            <a:ext cx="5212080" cy="3611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sLM: EXAONE 3.5 · vLLM · GPU A100×2 (KT Cloud)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Vector DB: pgvector 확장 · 템플릿·판례 임베딩 500만건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Observability: OpenTelemetry · Grafana · Sentry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보안: SOC2 Type I · ISMS-P · 개인정보영향평가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CDN: Cloudflare R2 (문서 저장) · 한국 리전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API: Kong Gateway · Rate limit · Circuit Breaker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Mobile: React Native (iOS/Android) · Tauri (Mac)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12 ·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90-Day Execution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실행 가능한 주간 단위 액션 플랜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1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5486400"/>
                <a:gridCol w="2103119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마일스톤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주요 액션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성공 지표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9149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법인 설립·브랜드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hwpx.io 도메인 · 법인 전환 · 상표출원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법인등기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3-4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무료 뷰어 런칭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랜딩 SEO · 30개 키워드 상위 10위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MAU 5K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9149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5-6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오픈소스 공개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Core Parser MIT 릴리즈 · HN/PH 론칭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GitHub ★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7-8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Pro 플랜 오픈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Stripe·Toss 결제 · 트라이얼 설계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유료 30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9149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9-10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세무사 50 베타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세무사회 공동 세미나 · 케이스 10건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MRR ₩1M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11-12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SI 파트너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NHN·LG CNS·삼성SDS 3곳 미팅 · LOI 2건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LOI 2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9149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Week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시드 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투자자 15팀 미팅 · Term 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₩15억 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</a:rPr>
              <a:t>책임자: CEO(영업·투자) · CTO(개발) · CMO(마케팅·SEO) — 주간 OKR 점검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13 · Financials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Financial Projection — 3-Year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보수적 Base Case · 월별 코호트 기반 롤업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1874520"/>
                <a:gridCol w="1874520"/>
                <a:gridCol w="1874520"/>
                <a:gridCol w="1874520"/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2026 Q2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2026 EOY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2027 EOY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2028 EOY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86080"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유료 계정 (누적)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28,000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MRR (₩M)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85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620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1,850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386080"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ARR (₩억)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Gross Margin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55%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72%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82%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85%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386080"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S&amp;M 비중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월 버닝 (₩M)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95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120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386080"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Runway 소진 시점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흑자전환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순이익 ₩45억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헤드카운트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42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A1F2C"/>
                          </a:solidFill>
                          <a:latin typeface="맑은 고딕"/>
                        </a:rPr>
                        <a:t>78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852160"/>
            <a:ext cx="5486400" cy="731520"/>
          </a:xfrm>
          <a:prstGeom prst="rect">
            <a:avLst/>
          </a:prstGeom>
          <a:solidFill>
            <a:srgbClr val="F7F8FB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Base Case 가정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맑은 고딕"/>
              </a:rPr>
              <a:t>월 Churn 3% · Net Add 900/월 · ARPU ₩52K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5852160"/>
            <a:ext cx="5486400" cy="731520"/>
          </a:xfrm>
          <a:prstGeom prst="rect">
            <a:avLst/>
          </a:prstGeom>
          <a:solidFill>
            <a:srgbClr val="E8ECF2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9436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F7D5F"/>
                </a:solidFill>
                <a:latin typeface="맑은 고딕"/>
              </a:rPr>
              <a:t>Exit 가상 시나리오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2179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맑은 고딕"/>
              </a:rPr>
              <a:t>2028 ARR ₩220억 × EV/Sales 8x = 밸류 ₩1,760억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14 · 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Funding Ask — Seed ₩15억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18개월 러닝 + 시리즈 A 준비까지 커버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7132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109728" cy="77724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677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제품 개발 (45%)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맑은 고딕"/>
              </a:rPr>
              <a:t>sLM 파인튜닝·모바일·엔터프라이즈 보안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3774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E1343B"/>
                </a:solidFill>
                <a:latin typeface="맑은 고딕"/>
              </a:rPr>
              <a:t>₩6.75억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39"/>
            <a:ext cx="7132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63239"/>
            <a:ext cx="109728" cy="777240"/>
          </a:xfrm>
          <a:prstGeom prst="rect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36391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인재 채용 (30%)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7471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맑은 고딕"/>
              </a:rPr>
              <a:t>백엔드 3·AI 2·세일즈 2·CS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246119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99A3B"/>
                </a:solidFill>
                <a:latin typeface="맑은 고딕"/>
              </a:rPr>
              <a:t>₩4.5억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7132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109728" cy="777240"/>
          </a:xfrm>
          <a:prstGeom prst="rect">
            <a:avLst/>
          </a:prstGeom>
          <a:solidFill>
            <a:srgbClr val="2F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050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마케팅 (15%)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43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맑은 고딕"/>
              </a:rPr>
              <a:t>SEO·콘텐츠·세무사회 파트너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1148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2F7D5F"/>
                </a:solidFill>
                <a:latin typeface="맑은 고딕"/>
              </a:rPr>
              <a:t>₩2.25억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7132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109728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8737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인증·운영 (10%)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12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맑은 고딕"/>
              </a:rPr>
              <a:t>ISMS-P·GS인증·법무·운영비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9834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0B1F3A"/>
                </a:solidFill>
                <a:latin typeface="맑은 고딕"/>
              </a:rPr>
              <a:t>₩1.5억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2194560"/>
            <a:ext cx="39319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2194560"/>
            <a:ext cx="3931920" cy="457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23591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투자 조건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788920"/>
            <a:ext cx="3566160" cy="3246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라운드: Seed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규모: ₩15억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밸류에이션: Pre ₩60억 (Post ₩75억)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형태: CPS 또는 SAFE (post-money)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Use of Fund 기간: 18개월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시리즈 A 목표: 2027 Q3, ₩80억@₩400억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6309360"/>
            <a:ext cx="3931920" cy="2743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79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Lead 1곳 + Co-investor 2곳 희망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15 ·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Risks &amp;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예상 리스크와 선제 대응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576072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리스크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발생 확률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영향도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대응 전략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1435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한컴의 법적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HWPX는 TTA·ISO 표준. 변호사 자문 완료. 공격적 커뮤니케이션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AI 토큰비 폭증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사내 sLM 이관 Q3 2026 · 캐시·배치 최적화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51435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핵심 인력 이탈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ESOP 15% 풀 · 기술리드 3인 2년 lock-up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공공조달 지연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PLG 현금흐름으로 의존도 최소화. 혁신제품 병행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51435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대기업 복제 진입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오픈소스·커뮤니티 해자. 파트너십으로 선점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개인정보·보안 이슈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ISMS-P 2026 취득. 온프레미스 옵션. SOC2 로드맵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514350"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환율·거시 경기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l"/>
                      <a:r>
                        <a:rPr sz="1050">
                          <a:solidFill>
                            <a:srgbClr val="1A1F2C"/>
                          </a:solidFill>
                          <a:latin typeface="맑은 고딕"/>
                        </a:rPr>
                        <a:t>국내 매출 90%로 환리스크 낮음. 고정비 slim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HanView · OpenHangul-AI · 사업화 IR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8ECF2"/>
                </a:solidFill>
                <a:latin typeface="맑은 고딕"/>
              </a:rP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343B"/>
                </a:solidFill>
                <a:latin typeface="맑은 고딕"/>
              </a:rPr>
              <a:t>16 ·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맑은 고딕"/>
              </a:rPr>
              <a:t>Team &amp; Hiring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핵심 창업팀 + 18개월 핵심 영입 포지션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457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맑은 고딕"/>
              </a:rPr>
              <a:t>Confidential — HanView 사업화 전략 · 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577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5577840" cy="45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591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현재 팀 (ISM Team)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5212080" cy="3611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CEO — 풀스택·HWPX 도메인 10년 · 제품 총괄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CTO — 컴파일러·파서 전문 · Parser v3 아키텍트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AI Lead — LLM·시맨틱 그리드 · 논문 3편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FE Engineer — React 19·라이브러리 패키징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Designer — 제품 UX · 브랜딩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BD — 공공·법인 영업 10년 경력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—— 총 6명 · 평균 경력 8년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194560"/>
            <a:ext cx="5577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194560"/>
            <a:ext cx="5577840" cy="4572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3591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맑은 고딕"/>
              </a:rPr>
              <a:t>Next 12 Hires (Seed 자금 기반)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88920"/>
            <a:ext cx="5212080" cy="3611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1. VP of Sales (엔터프라이즈 판매 헤드)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2. Growth PM (PLG·SEO·퍼널 최적화)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3-4. Backend Engineer × 2 (Go·분산시스템)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5-6. AI/ML Engineer × 2 (sLM·RAG·vLLM)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7. Mobile Engineer (React Native·Tauri)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8. Security Engineer (ISMS-P·SOC2)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9-10. Account Executive × 2 (세무·법무 세그먼트)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11. Customer Success Manager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A1F2C"/>
                </a:solidFill>
                <a:latin typeface="맑은 고딕"/>
              </a:rPr>
              <a:t>• 12. Content/Community Manager (개발자 생태계)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99A3B"/>
                </a:solidFill>
                <a:latin typeface="맑은 고딕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맑은 고딕"/>
              </a:rPr>
              <a:t>함께 가시겠습니까?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8ECF2"/>
                </a:solidFill>
                <a:latin typeface="맑은 고딕"/>
              </a:rPr>
              <a:t>HanView는 한국 지식노동의 마찰을 제거하는 플랫폼입니다.</a:t>
            </a:r>
          </a:p>
          <a:p>
            <a:pPr algn="l"/>
            <a:r>
              <a:rPr sz="1600" b="0">
                <a:solidFill>
                  <a:srgbClr val="E8ECF2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E8ECF2"/>
                </a:solidFill>
                <a:latin typeface="맑은 고딕"/>
              </a:rPr>
              <a:t>· Seed ₩15억, Pre-money ₩60억</a:t>
            </a:r>
          </a:p>
          <a:p>
            <a:pPr algn="l"/>
            <a:r>
              <a:rPr sz="1600" b="0">
                <a:solidFill>
                  <a:srgbClr val="E8ECF2"/>
                </a:solidFill>
                <a:latin typeface="맑은 고딕"/>
              </a:rPr>
              <a:t>· 18개월 내 ARR ₩74억, Series A Ready</a:t>
            </a:r>
          </a:p>
          <a:p>
            <a:pPr algn="l"/>
            <a:r>
              <a:rPr sz="1600" b="0">
                <a:solidFill>
                  <a:srgbClr val="E8ECF2"/>
                </a:solidFill>
                <a:latin typeface="맑은 고딕"/>
              </a:rPr>
              <a:t>· '공공·법률·세무'를 장악하고 일본·아시아로 확장</a:t>
            </a:r>
          </a:p>
          <a:p>
            <a:pPr algn="l"/>
            <a:r>
              <a:rPr sz="1600" b="0">
                <a:solidFill>
                  <a:srgbClr val="E8ECF2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E8ECF2"/>
                </a:solidFill>
                <a:latin typeface="맑은 고딕"/>
              </a:rPr>
              <a:t>HWP는 가두고 있고, 우리는 열 것입니다.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577840"/>
            <a:ext cx="2743200" cy="25000"/>
          </a:xfrm>
          <a:prstGeom prst="rect">
            <a:avLst/>
          </a:prstGeom>
          <a:solidFill>
            <a:srgbClr val="E1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99A3B"/>
                </a:solidFill>
                <a:latin typeface="맑은 고딕"/>
              </a:rPr>
              <a:t>Contact · license@ism-team.com · hanview.ai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© 2026 ISM Team · Strictly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